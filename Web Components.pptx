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37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3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3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13"/>
          </p:nvPr>
        </p:nvSpPr>
        <p:spPr>
          <a:xfrm>
            <a:off x="-647700" y="508000"/>
            <a:ext cx="12369801" cy="61425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37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3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3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idx="13"/>
          </p:nvPr>
        </p:nvSpPr>
        <p:spPr>
          <a:xfrm>
            <a:off x="2451058" y="-138499"/>
            <a:ext cx="13525502" cy="90170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37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3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3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/>
          <p:nvPr>
            <p:ph type="pic" idx="13"/>
          </p:nvPr>
        </p:nvSpPr>
        <p:spPr>
          <a:xfrm>
            <a:off x="4473575" y="2032000"/>
            <a:ext cx="10287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buClrTx/>
              <a:defRPr sz="2800"/>
            </a:lvl1pPr>
            <a:lvl2pPr marL="685800" indent="-342900">
              <a:spcBef>
                <a:spcPts val="3200"/>
              </a:spcBef>
              <a:buClrTx/>
              <a:defRPr sz="2800"/>
            </a:lvl2pPr>
            <a:lvl3pPr marL="1028700" indent="-342900">
              <a:spcBef>
                <a:spcPts val="3200"/>
              </a:spcBef>
              <a:buClrTx/>
              <a:defRPr sz="2800"/>
            </a:lvl3pPr>
            <a:lvl4pPr marL="1371600" indent="-342900">
              <a:spcBef>
                <a:spcPts val="3200"/>
              </a:spcBef>
              <a:buClrTx/>
              <a:defRPr sz="2800"/>
            </a:lvl4pPr>
            <a:lvl5pPr marL="1714500" indent="-342900">
              <a:spcBef>
                <a:spcPts val="3200"/>
              </a:spcBef>
              <a:buClrTx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/>
          <p:nvPr>
            <p:ph type="pic" sz="quarter" idx="13"/>
          </p:nvPr>
        </p:nvSpPr>
        <p:spPr>
          <a:xfrm>
            <a:off x="6426200" y="4965700"/>
            <a:ext cx="5886450" cy="3924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"/>
          <p:cNvSpPr/>
          <p:nvPr>
            <p:ph type="pic" sz="quarter" idx="14"/>
          </p:nvPr>
        </p:nvSpPr>
        <p:spPr>
          <a:xfrm>
            <a:off x="6737350" y="639233"/>
            <a:ext cx="5880100" cy="3920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"/>
          <p:cNvSpPr/>
          <p:nvPr>
            <p:ph type="pic" idx="15"/>
          </p:nvPr>
        </p:nvSpPr>
        <p:spPr>
          <a:xfrm>
            <a:off x="-3400425" y="-127000"/>
            <a:ext cx="13525500" cy="9017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i="1"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14"/>
          </p:nvPr>
        </p:nvSpPr>
        <p:spPr>
          <a:xfrm>
            <a:off x="1270000" y="4308599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/>
          <p:nvPr>
            <p:ph type="pic" idx="13"/>
          </p:nvPr>
        </p:nvSpPr>
        <p:spPr>
          <a:xfrm>
            <a:off x="-929606" y="-12700"/>
            <a:ext cx="16551777" cy="1103451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tif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tif"/><Relationship Id="rId3" Type="http://schemas.openxmlformats.org/officeDocument/2006/relationships/image" Target="../media/image4.tif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ionutvelicu/webcomps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Web Components"/>
          <p:cNvSpPr txBox="1"/>
          <p:nvPr>
            <p:ph type="ctr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>
            <a:lvl1pPr>
              <a:defRPr sz="9900"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Web Components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Agenda"/>
          <p:cNvSpPr txBox="1"/>
          <p:nvPr/>
        </p:nvSpPr>
        <p:spPr>
          <a:xfrm>
            <a:off x="1054100" y="431800"/>
            <a:ext cx="10464800" cy="1324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defRPr b="0" sz="7000"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122" name="Standard &amp; Specs…"/>
          <p:cNvSpPr txBox="1"/>
          <p:nvPr/>
        </p:nvSpPr>
        <p:spPr>
          <a:xfrm>
            <a:off x="928116" y="3733948"/>
            <a:ext cx="10716768" cy="3733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1508124" indent="-1508124" algn="l" defTabSz="554990">
              <a:buSzPct val="100000"/>
              <a:buAutoNum type="arabicPeriod" startAt="1"/>
              <a:defRPr b="0" sz="57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Standard &amp; Specs</a:t>
            </a:r>
          </a:p>
          <a:p>
            <a:pPr marL="1508124" indent="-1508124" algn="l" defTabSz="554990">
              <a:buSzPct val="100000"/>
              <a:buAutoNum type="arabicPeriod" startAt="1"/>
              <a:defRPr b="0" sz="57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Web Component Tools</a:t>
            </a:r>
          </a:p>
          <a:p>
            <a:pPr marL="1508124" indent="-1508124" algn="l" defTabSz="554990">
              <a:buSzPct val="100000"/>
              <a:buAutoNum type="arabicPeriod" startAt="1"/>
              <a:defRPr b="0" sz="57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vs. Frameworks</a:t>
            </a:r>
          </a:p>
          <a:p>
            <a:pPr marL="1508124" indent="-1508124" algn="l" defTabSz="554990">
              <a:buSzPct val="100000"/>
              <a:buAutoNum type="arabicPeriod" startAt="1"/>
              <a:defRPr b="0" sz="57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Demo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tandard &amp; Specs"/>
          <p:cNvSpPr txBox="1"/>
          <p:nvPr/>
        </p:nvSpPr>
        <p:spPr>
          <a:xfrm>
            <a:off x="1054100" y="431800"/>
            <a:ext cx="10464800" cy="1059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defRPr b="0" sz="6000">
                <a:solidFill>
                  <a:srgbClr val="6C6C6C"/>
                </a:solidFill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Standard &amp; Specs</a:t>
            </a:r>
          </a:p>
        </p:txBody>
      </p:sp>
      <p:sp>
        <p:nvSpPr>
          <p:cNvPr id="125" name="Main technologies:…"/>
          <p:cNvSpPr txBox="1"/>
          <p:nvPr/>
        </p:nvSpPr>
        <p:spPr>
          <a:xfrm>
            <a:off x="862334" y="2019969"/>
            <a:ext cx="11275716" cy="7161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Main technologies:</a:t>
            </a:r>
          </a:p>
          <a:p>
            <a:pPr marL="833437" indent="-833437" algn="l">
              <a:buSzPct val="145000"/>
              <a:buChar char="•"/>
              <a:defRPr b="0" sz="48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HTML Templates</a:t>
            </a:r>
          </a:p>
          <a:p>
            <a:pPr marL="833437" indent="-833437" algn="l">
              <a:buSzPct val="145000"/>
              <a:buChar char="•"/>
              <a:defRPr b="0" sz="48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Custom elements</a:t>
            </a:r>
          </a:p>
          <a:p>
            <a:pPr marL="833437" indent="-833437" algn="l">
              <a:buSzPct val="145000"/>
              <a:buChar char="•"/>
              <a:defRPr b="0" sz="48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Shadow DOM</a:t>
            </a:r>
          </a:p>
          <a:p>
            <a:pPr marL="833437" indent="-833437" algn="l">
              <a:buSzPct val="145000"/>
              <a:buChar char="•"/>
              <a:defRPr b="0" sz="48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Custom Events</a:t>
            </a:r>
          </a:p>
          <a:p>
            <a:pPr algn="l">
              <a:defRPr b="0" sz="4800">
                <a:latin typeface="MADE Waffle Soft"/>
                <a:ea typeface="MADE Waffle Soft"/>
                <a:cs typeface="MADE Waffle Soft"/>
                <a:sym typeface="MADE Waffle Soft"/>
              </a:defRPr>
            </a:pPr>
          </a:p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Defined by W3C</a:t>
            </a:r>
          </a:p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Supported by all* browsers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Lifecycle Hooks"/>
          <p:cNvSpPr txBox="1"/>
          <p:nvPr/>
        </p:nvSpPr>
        <p:spPr>
          <a:xfrm>
            <a:off x="1054100" y="431800"/>
            <a:ext cx="10464800" cy="1052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defRPr b="0" sz="6000">
                <a:solidFill>
                  <a:srgbClr val="6C6C6C"/>
                </a:solidFill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Lifecycle Hooks</a:t>
            </a:r>
          </a:p>
        </p:txBody>
      </p:sp>
      <p:sp>
        <p:nvSpPr>
          <p:cNvPr id="128" name="constructor()…"/>
          <p:cNvSpPr txBox="1"/>
          <p:nvPr/>
        </p:nvSpPr>
        <p:spPr>
          <a:xfrm>
            <a:off x="862334" y="2019969"/>
            <a:ext cx="11275716" cy="7161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algn="l">
              <a:defRPr b="0" sz="45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constructor()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Shadow Dom  / event listeners / state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</a:p>
          <a:p>
            <a:pPr algn="l">
              <a:defRPr b="0" sz="45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connectedCallback()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Added to DOM - set attires / fetch resources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</a:p>
          <a:p>
            <a:pPr algn="l">
              <a:defRPr b="0" sz="45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disconnectedCallback()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Removed from DOM - unsubscribe/ unregister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</a:p>
          <a:p>
            <a:pPr algn="l">
              <a:defRPr b="0" sz="45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attributeChangedCallback()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static get observedAttributes()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HTML Template"/>
          <p:cNvSpPr txBox="1"/>
          <p:nvPr/>
        </p:nvSpPr>
        <p:spPr>
          <a:xfrm>
            <a:off x="1054100" y="431800"/>
            <a:ext cx="10464800" cy="106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defRPr b="0" sz="6000">
                <a:solidFill>
                  <a:srgbClr val="6C6C6C"/>
                </a:solidFill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HTML Template</a:t>
            </a:r>
          </a:p>
        </p:txBody>
      </p:sp>
      <p:pic>
        <p:nvPicPr>
          <p:cNvPr id="131" name="template.png" descr="templat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844" y="2417001"/>
            <a:ext cx="12089112" cy="49195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Custom Elements"/>
          <p:cNvSpPr txBox="1"/>
          <p:nvPr/>
        </p:nvSpPr>
        <p:spPr>
          <a:xfrm>
            <a:off x="1054100" y="431800"/>
            <a:ext cx="10464800" cy="1056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defRPr b="0" sz="6000">
                <a:solidFill>
                  <a:srgbClr val="6C6C6C"/>
                </a:solidFill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Custom Elements</a:t>
            </a:r>
          </a:p>
        </p:txBody>
      </p:sp>
      <p:pic>
        <p:nvPicPr>
          <p:cNvPr id="134" name="component.png" descr="componen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3095" y="2211866"/>
            <a:ext cx="11958610" cy="53298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dow DOM"/>
          <p:cNvSpPr txBox="1"/>
          <p:nvPr/>
        </p:nvSpPr>
        <p:spPr>
          <a:xfrm>
            <a:off x="1054100" y="431800"/>
            <a:ext cx="10464800" cy="1084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defRPr b="0" sz="6000">
                <a:solidFill>
                  <a:srgbClr val="6C6C6C"/>
                </a:solidFill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Shadow DOM</a:t>
            </a:r>
          </a:p>
        </p:txBody>
      </p:sp>
      <p:pic>
        <p:nvPicPr>
          <p:cNvPr id="137" name="constructor.png" descr="constructo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6563" y="2584677"/>
            <a:ext cx="12271674" cy="45842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ustom Events"/>
          <p:cNvSpPr txBox="1"/>
          <p:nvPr/>
        </p:nvSpPr>
        <p:spPr>
          <a:xfrm>
            <a:off x="1054100" y="431800"/>
            <a:ext cx="10464800" cy="1084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defRPr b="0" sz="6000">
                <a:solidFill>
                  <a:srgbClr val="6C6C6C"/>
                </a:solidFill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Custom Events</a:t>
            </a:r>
          </a:p>
        </p:txBody>
      </p:sp>
      <p:pic>
        <p:nvPicPr>
          <p:cNvPr id="140" name="callback.png" descr="callback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0219" y="2202008"/>
            <a:ext cx="12184362" cy="53495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Web Component Tools"/>
          <p:cNvSpPr txBox="1"/>
          <p:nvPr/>
        </p:nvSpPr>
        <p:spPr>
          <a:xfrm>
            <a:off x="1054100" y="431800"/>
            <a:ext cx="10464800" cy="1059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defRPr b="0" sz="6000">
                <a:solidFill>
                  <a:srgbClr val="6C6C6C"/>
                </a:solidFill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Web Component Tools</a:t>
            </a:r>
          </a:p>
        </p:txBody>
      </p:sp>
      <p:sp>
        <p:nvSpPr>
          <p:cNvPr id="143" name="Polymer…"/>
          <p:cNvSpPr txBox="1"/>
          <p:nvPr/>
        </p:nvSpPr>
        <p:spPr>
          <a:xfrm>
            <a:off x="651842" y="2019969"/>
            <a:ext cx="11701116" cy="7161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Polymer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Google backed / LitElement / lit-html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</a:p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Stencil JS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Ionic backed / Virtual DOM + Typescript + JSX /compiler that generates WCs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</a:p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Vue CLI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vue-cli-service 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build--target wc --name my-element [entry]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olymer"/>
          <p:cNvSpPr txBox="1"/>
          <p:nvPr/>
        </p:nvSpPr>
        <p:spPr>
          <a:xfrm>
            <a:off x="1054100" y="431800"/>
            <a:ext cx="10464800" cy="106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defRPr b="0" sz="6000">
                <a:solidFill>
                  <a:srgbClr val="6C6C6C"/>
                </a:solidFill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Polymer</a:t>
            </a:r>
          </a:p>
        </p:txBody>
      </p:sp>
      <p:sp>
        <p:nvSpPr>
          <p:cNvPr id="146" name="Decorators (Stage 2)…"/>
          <p:cNvSpPr txBox="1"/>
          <p:nvPr/>
        </p:nvSpPr>
        <p:spPr>
          <a:xfrm>
            <a:off x="651842" y="2019969"/>
            <a:ext cx="11701116" cy="7161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Decorators </a:t>
            </a:r>
            <a:r>
              <a:rPr sz="2000"/>
              <a:t>(Stage 2)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@customElement, @property / Typescript or Babel 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</a:p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Lifecycle hooks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Inherited from HtmlElement 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</a:p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render()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using lit-html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</a:p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static styles()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olymer"/>
          <p:cNvSpPr txBox="1"/>
          <p:nvPr/>
        </p:nvSpPr>
        <p:spPr>
          <a:xfrm>
            <a:off x="1054100" y="431800"/>
            <a:ext cx="10464800" cy="106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defRPr b="0" sz="6000">
                <a:solidFill>
                  <a:srgbClr val="6C6C6C"/>
                </a:solidFill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Polymer</a:t>
            </a:r>
          </a:p>
        </p:txBody>
      </p:sp>
      <p:pic>
        <p:nvPicPr>
          <p:cNvPr id="14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28276" y="1608858"/>
            <a:ext cx="7716448" cy="79836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tencil"/>
          <p:cNvSpPr txBox="1"/>
          <p:nvPr/>
        </p:nvSpPr>
        <p:spPr>
          <a:xfrm>
            <a:off x="1054100" y="431800"/>
            <a:ext cx="10464800" cy="106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defRPr b="0" sz="6000">
                <a:solidFill>
                  <a:srgbClr val="6C6C6C"/>
                </a:solidFill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Stencil</a:t>
            </a:r>
          </a:p>
        </p:txBody>
      </p:sp>
      <p:sp>
        <p:nvSpPr>
          <p:cNvPr id="152" name="Decorators…"/>
          <p:cNvSpPr txBox="1"/>
          <p:nvPr/>
        </p:nvSpPr>
        <p:spPr>
          <a:xfrm>
            <a:off x="651842" y="2019969"/>
            <a:ext cx="11701116" cy="7161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Decorators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@Component, @Prop, @State, @Watch, @Element, @Event, @Listen 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</a:p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Lifecycle hooks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connectedCallback(), componentDidLoad(),  componentWillUpdate()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</a:p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render()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jsx / tsx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tencil"/>
          <p:cNvSpPr txBox="1"/>
          <p:nvPr/>
        </p:nvSpPr>
        <p:spPr>
          <a:xfrm>
            <a:off x="1054100" y="431800"/>
            <a:ext cx="10464800" cy="106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defRPr b="0" sz="6000">
                <a:solidFill>
                  <a:srgbClr val="6C6C6C"/>
                </a:solidFill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Stencil</a:t>
            </a:r>
          </a:p>
        </p:txBody>
      </p:sp>
      <p:pic>
        <p:nvPicPr>
          <p:cNvPr id="15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8903" y="1861890"/>
            <a:ext cx="11546994" cy="74776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vs. Frameworks"/>
          <p:cNvSpPr txBox="1"/>
          <p:nvPr/>
        </p:nvSpPr>
        <p:spPr>
          <a:xfrm>
            <a:off x="1054100" y="431800"/>
            <a:ext cx="10464800" cy="1059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defRPr b="0" sz="6000">
                <a:solidFill>
                  <a:srgbClr val="6C6C6C"/>
                </a:solidFill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vs. Frameworks</a:t>
            </a:r>
          </a:p>
        </p:txBody>
      </p:sp>
      <p:sp>
        <p:nvSpPr>
          <p:cNvPr id="158" name="Web Components…"/>
          <p:cNvSpPr txBox="1"/>
          <p:nvPr/>
        </p:nvSpPr>
        <p:spPr>
          <a:xfrm>
            <a:off x="651842" y="2019969"/>
            <a:ext cx="11701116" cy="7161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Web Components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W3C standard / browser support / simple APIs</a:t>
            </a:r>
          </a:p>
          <a:p>
            <a:pPr algn="l">
              <a:defRPr b="0"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</a:p>
          <a:p>
            <a:pPr algn="l">
              <a:defRPr b="0" sz="6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Frameworks</a:t>
            </a:r>
          </a:p>
          <a:p>
            <a:pPr marL="833437" indent="-833437" algn="l">
              <a:buSzPct val="145000"/>
              <a:buChar char="•"/>
              <a:defRPr b="0" sz="35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SPA Routing</a:t>
            </a:r>
          </a:p>
          <a:p>
            <a:pPr marL="833437" indent="-833437" algn="l">
              <a:buSzPct val="145000"/>
              <a:buChar char="•"/>
              <a:defRPr b="0" sz="35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State Management</a:t>
            </a:r>
          </a:p>
          <a:p>
            <a:pPr marL="833437" indent="-833437" algn="l">
              <a:buSzPct val="145000"/>
              <a:buChar char="•"/>
              <a:defRPr b="0" sz="35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Modularity / Composition</a:t>
            </a:r>
          </a:p>
          <a:p>
            <a:pPr marL="833437" indent="-833437" algn="l">
              <a:buSzPct val="145000"/>
              <a:buChar char="•"/>
              <a:defRPr b="0" sz="35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Scaffolding</a:t>
            </a:r>
          </a:p>
          <a:p>
            <a:pPr marL="833437" indent="-833437" algn="l">
              <a:buSzPct val="145000"/>
              <a:buChar char="•"/>
              <a:defRPr b="0" sz="35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CLI</a:t>
            </a:r>
          </a:p>
          <a:p>
            <a:pPr marL="833437" indent="-833437" algn="l">
              <a:buSzPct val="145000"/>
              <a:buChar char="•"/>
              <a:defRPr b="0" sz="35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Deployment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vs. Frameworks"/>
          <p:cNvSpPr txBox="1"/>
          <p:nvPr/>
        </p:nvSpPr>
        <p:spPr>
          <a:xfrm>
            <a:off x="1054100" y="431800"/>
            <a:ext cx="10464800" cy="1059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defRPr b="0" sz="6000">
                <a:solidFill>
                  <a:srgbClr val="6C6C6C"/>
                </a:solidFill>
                <a:latin typeface="MADE Waffle Soft"/>
                <a:ea typeface="MADE Waffle Soft"/>
                <a:cs typeface="MADE Waffle Soft"/>
                <a:sym typeface="MADE Waffle Soft"/>
              </a:defRPr>
            </a:lvl1pPr>
          </a:lstStyle>
          <a:p>
            <a:pPr/>
            <a:r>
              <a:t>vs. Frameworks</a:t>
            </a:r>
          </a:p>
        </p:txBody>
      </p:sp>
      <p:pic>
        <p:nvPicPr>
          <p:cNvPr id="16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40000" y="2692400"/>
            <a:ext cx="7493000" cy="812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2425" y="3470775"/>
            <a:ext cx="12099950" cy="28120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Demo…"/>
          <p:cNvSpPr txBox="1"/>
          <p:nvPr>
            <p:ph type="ctr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 anchor="ctr"/>
          <a:lstStyle/>
          <a:p>
            <a:pPr>
              <a:defRPr sz="99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t>Demo</a:t>
            </a:r>
          </a:p>
          <a:p>
            <a:pPr defTabSz="457200">
              <a:lnSpc>
                <a:spcPts val="5000"/>
              </a:lnSpc>
              <a:defRPr sz="3000">
                <a:latin typeface="MADE Waffle Soft"/>
                <a:ea typeface="MADE Waffle Soft"/>
                <a:cs typeface="MADE Waffle Soft"/>
                <a:sym typeface="MADE Waffle Soft"/>
              </a:defRPr>
            </a:pPr>
            <a:r>
              <a:rPr>
                <a:hlinkClick r:id="rId2" invalidUrl="" action="" tgtFrame="" tooltip="" history="1" highlightClick="0" endSnd="0"/>
              </a:rPr>
              <a:t>https://github.com/ionutvelicu/webcomps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